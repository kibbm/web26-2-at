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420" r:id="rId2"/>
    <p:sldId id="579" r:id="rId3"/>
    <p:sldId id="416" r:id="rId4"/>
    <p:sldId id="417" r:id="rId5"/>
    <p:sldId id="412" r:id="rId6"/>
    <p:sldId id="535" r:id="rId7"/>
    <p:sldId id="528" r:id="rId8"/>
    <p:sldId id="581" r:id="rId9"/>
    <p:sldId id="536" r:id="rId10"/>
    <p:sldId id="582" r:id="rId11"/>
    <p:sldId id="422" r:id="rId12"/>
    <p:sldId id="501" r:id="rId13"/>
    <p:sldId id="539" r:id="rId14"/>
    <p:sldId id="538" r:id="rId15"/>
    <p:sldId id="541" r:id="rId16"/>
    <p:sldId id="542" r:id="rId17"/>
    <p:sldId id="543" r:id="rId18"/>
    <p:sldId id="544" r:id="rId19"/>
    <p:sldId id="583" r:id="rId20"/>
    <p:sldId id="584" r:id="rId21"/>
    <p:sldId id="588" r:id="rId22"/>
    <p:sldId id="585" r:id="rId23"/>
    <p:sldId id="589" r:id="rId24"/>
    <p:sldId id="590" r:id="rId25"/>
    <p:sldId id="586" r:id="rId26"/>
    <p:sldId id="423" r:id="rId27"/>
    <p:sldId id="545" r:id="rId28"/>
    <p:sldId id="546" r:id="rId29"/>
    <p:sldId id="418" r:id="rId30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33"/>
    </p:embeddedFont>
    <p:embeddedFont>
      <p:font typeface="D2Coding" panose="020B0609020101020101" pitchFamily="49" charset="-127"/>
      <p:regular r:id="rId34"/>
      <p:bold r:id="rId35"/>
    </p:embeddedFont>
    <p:embeddedFont>
      <p:font typeface="HY견고딕" panose="02030600000101010101" pitchFamily="18" charset="-127"/>
      <p:regular r:id="rId36"/>
    </p:embeddedFont>
    <p:embeddedFont>
      <p:font typeface="맑은 고딕" panose="020B0503020000020004" pitchFamily="50" charset="-127"/>
      <p:regular r:id="rId37"/>
      <p:bold r:id="rId38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1">
          <p15:clr>
            <a:srgbClr val="A4A3A4"/>
          </p15:clr>
        </p15:guide>
        <p15:guide id="2" pos="158">
          <p15:clr>
            <a:srgbClr val="A4A3A4"/>
          </p15:clr>
        </p15:guide>
        <p15:guide id="3" pos="56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E4D"/>
    <a:srgbClr val="96CFAC"/>
    <a:srgbClr val="F1F7F7"/>
    <a:srgbClr val="00CC66"/>
    <a:srgbClr val="E85542"/>
    <a:srgbClr val="02AF7E"/>
    <a:srgbClr val="7EBCD0"/>
    <a:srgbClr val="39869F"/>
    <a:srgbClr val="FABE00"/>
    <a:srgbClr val="F49F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37" autoAdjust="0"/>
    <p:restoredTop sz="95361" autoAdjust="0"/>
  </p:normalViewPr>
  <p:slideViewPr>
    <p:cSldViewPr>
      <p:cViewPr varScale="1">
        <p:scale>
          <a:sx n="103" d="100"/>
          <a:sy n="103" d="100"/>
        </p:scale>
        <p:origin x="2082" y="96"/>
      </p:cViewPr>
      <p:guideLst>
        <p:guide orient="horz" pos="591"/>
        <p:guide pos="158"/>
        <p:guide pos="5602"/>
      </p:guideLst>
    </p:cSldViewPr>
  </p:slideViewPr>
  <p:outlineViewPr>
    <p:cViewPr>
      <p:scale>
        <a:sx n="33" d="100"/>
        <a:sy n="33" d="100"/>
      </p:scale>
      <p:origin x="0" y="-4004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6CB18BD7-F542-41D4-8860-DCEDD38FC59F}" type="datetimeFigureOut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2023-09-04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66AABF27-7303-4B20-B134-3A49760DD20D}" type="slidenum">
              <a:rPr lang="ko-KR" altLang="en-US">
                <a:ea typeface="맑은 고딕" panose="020B0503020000020004" pitchFamily="50" charset="-127"/>
              </a:rPr>
              <a:pPr/>
              <a:t>‹#›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746303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E395095A-4ED7-4532-9B60-17A12090B229}" type="datetimeFigureOut">
              <a:rPr lang="ko-KR" altLang="en-US" smtClean="0"/>
              <a:pPr>
                <a:defRPr/>
              </a:pPr>
              <a:t>2023-09-04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fld id="{54563F77-4079-44FD-AC16-D5293C2E4BC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22029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63F77-4079-44FD-AC16-D5293C2E4BC4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4947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63F77-4079-44FD-AC16-D5293C2E4BC4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5307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저작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554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solidFill>
            <a:schemeClr val="bg1"/>
          </a:solidFill>
          <a:ln w="539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rgbClr val="E8554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32C0EC-2602-2D3D-6C9B-F814EBEFD4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0778" y="908720"/>
            <a:ext cx="3622444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05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저작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52033F2-C21F-00E2-FA47-BCDDEF3A0B78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554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7">
            <a:extLst>
              <a:ext uri="{FF2B5EF4-FFF2-40B4-BE49-F238E27FC236}">
                <a16:creationId xmlns:a16="http://schemas.microsoft.com/office/drawing/2014/main" id="{F87359A1-96F3-3B53-ED59-0C539D4D5996}"/>
              </a:ext>
            </a:extLst>
          </p:cNvPr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solidFill>
            <a:schemeClr val="bg1"/>
          </a:solidFill>
          <a:ln w="539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609600" y="1700213"/>
            <a:ext cx="7991475" cy="144655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lvl="1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u="none" dirty="0">
              <a:solidFill>
                <a:srgbClr val="FF0000"/>
              </a:solidFill>
              <a:ea typeface="맑은 고딕" pitchFamily="50" charset="-127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u="none" dirty="0">
                <a:ea typeface="맑은 고딕" pitchFamily="50" charset="-127"/>
              </a:rPr>
              <a:t>[</a:t>
            </a:r>
            <a:r>
              <a:rPr kumimoji="0" lang="ko-KR" altLang="en-US" sz="1600" b="1" u="none" dirty="0">
                <a:ea typeface="맑은 고딕" pitchFamily="50" charset="-127"/>
              </a:rPr>
              <a:t>강의교안 이용 안내</a:t>
            </a:r>
            <a:r>
              <a:rPr kumimoji="0" lang="en-US" altLang="ko-KR" sz="1600" b="1" u="none" dirty="0">
                <a:ea typeface="맑은 고딕" pitchFamily="50" charset="-127"/>
              </a:rPr>
              <a:t>]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u="none" dirty="0">
              <a:ea typeface="맑은 고딕" pitchFamily="50" charset="-127"/>
            </a:endParaRPr>
          </a:p>
          <a:p>
            <a:pPr marL="108000" indent="-1080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400" u="none" spc="-100" baseline="0" dirty="0">
                <a:ea typeface="맑은 고딕" pitchFamily="50" charset="-127"/>
              </a:rPr>
              <a:t>본 강의교안의 저작권은 </a:t>
            </a:r>
            <a:r>
              <a:rPr kumimoji="0" lang="ko-KR" altLang="en-US" sz="1400" b="1" u="none" spc="-100" baseline="0" dirty="0">
                <a:ea typeface="맑은 고딕" pitchFamily="50" charset="-127"/>
              </a:rPr>
              <a:t>윤인성</a:t>
            </a:r>
            <a:r>
              <a:rPr kumimoji="0" lang="ko-KR" altLang="en-US" sz="1400" u="none" spc="-100" baseline="0" dirty="0">
                <a:ea typeface="맑은 고딕" pitchFamily="50" charset="-127"/>
              </a:rPr>
              <a:t>과 </a:t>
            </a:r>
            <a:r>
              <a:rPr kumimoji="0" lang="ko-KR" altLang="en-US" sz="1400" b="1" u="none" spc="-100" baseline="0" dirty="0" err="1">
                <a:ea typeface="맑은 고딕" pitchFamily="50" charset="-127"/>
              </a:rPr>
              <a:t>한빛아카데미㈜</a:t>
            </a:r>
            <a:r>
              <a:rPr kumimoji="0" lang="ko-KR" altLang="en-US" sz="1400" u="none" spc="-100" baseline="0" dirty="0" err="1">
                <a:ea typeface="맑은 고딕" pitchFamily="50" charset="-127"/>
              </a:rPr>
              <a:t>에</a:t>
            </a:r>
            <a:r>
              <a:rPr kumimoji="0" lang="ko-KR" altLang="en-US" sz="1400" u="none" spc="-100" baseline="0" dirty="0">
                <a:ea typeface="맑은 고딕" pitchFamily="50" charset="-127"/>
              </a:rPr>
              <a:t> 있습니다</a:t>
            </a:r>
            <a:r>
              <a:rPr kumimoji="0" lang="en-US" altLang="ko-KR" sz="1400" u="none" spc="-100" baseline="0" dirty="0">
                <a:ea typeface="맑은 고딕" pitchFamily="50" charset="-127"/>
              </a:rPr>
              <a:t>.</a:t>
            </a:r>
          </a:p>
          <a:p>
            <a:pPr marL="108000" indent="-1080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400" u="none" dirty="0">
                <a:solidFill>
                  <a:srgbClr val="222222"/>
                </a:solidFill>
                <a:ea typeface="맑은 고딕" pitchFamily="50" charset="-127"/>
              </a:rPr>
              <a:t>이 자료는</a:t>
            </a:r>
            <a:r>
              <a:rPr kumimoji="0" lang="ko-KR" altLang="en-US" sz="1400" u="none" baseline="0" dirty="0">
                <a:solidFill>
                  <a:srgbClr val="222222"/>
                </a:solidFill>
                <a:ea typeface="맑은 고딕" pitchFamily="50" charset="-127"/>
              </a:rPr>
              <a:t> 강의 보조 자료로 제공되는 것으로 무단으로 전제하거나 배포하는 것을 금합니다</a:t>
            </a:r>
            <a:r>
              <a:rPr kumimoji="0" lang="en-US" altLang="ko-KR" sz="1400" u="none" baseline="0" dirty="0">
                <a:solidFill>
                  <a:srgbClr val="222222"/>
                </a:solidFill>
                <a:ea typeface="맑은 고딕" pitchFamily="50" charset="-127"/>
              </a:rPr>
              <a:t>.</a:t>
            </a:r>
            <a:endParaRPr kumimoji="0" lang="en-US" altLang="ko-KR" sz="1400" u="none" dirty="0">
              <a:solidFill>
                <a:srgbClr val="222222"/>
              </a:solidFill>
              <a:ea typeface="맑은 고딕" pitchFamily="50" charset="-127"/>
            </a:endParaRPr>
          </a:p>
        </p:txBody>
      </p:sp>
      <p:pic>
        <p:nvPicPr>
          <p:cNvPr id="6" name="Picture 4" descr="C:\Users\김현용\Desktop\제호.jpg">
            <a:extLst>
              <a:ext uri="{FF2B5EF4-FFF2-40B4-BE49-F238E27FC236}">
                <a16:creationId xmlns:a16="http://schemas.microsoft.com/office/drawing/2014/main" id="{BE07CC8D-77BF-445C-B1CC-57A0F565E6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581" y="5661248"/>
            <a:ext cx="1731819" cy="288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752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E85542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kumimoji="1" lang="ko-KR" altLang="en-US" sz="1800" b="0" i="0" u="none" strike="noStrike" kern="1200" baseline="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96CFAC"/>
          </a:solidFill>
          <a:ln>
            <a:noFill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796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2AF7E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20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11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96CF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6396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2AF7E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7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96CF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307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학습목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rgbClr val="96CF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2" name="모서리가 둥근 직사각형 1"/>
          <p:cNvSpPr/>
          <p:nvPr userDrawn="1"/>
        </p:nvSpPr>
        <p:spPr>
          <a:xfrm>
            <a:off x="667203" y="586172"/>
            <a:ext cx="1112851" cy="35706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96CFAC"/>
              </a:solidFill>
            </a:endParaRPr>
          </a:p>
        </p:txBody>
      </p:sp>
      <p:sp>
        <p:nvSpPr>
          <p:cNvPr id="9" name="TextBox 9"/>
          <p:cNvSpPr txBox="1"/>
          <p:nvPr userDrawn="1"/>
        </p:nvSpPr>
        <p:spPr>
          <a:xfrm>
            <a:off x="683568" y="573063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8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2AF7E"/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Preview</a:t>
            </a:r>
            <a:endParaRPr kumimoji="0" lang="ko-KR" altLang="en-US" sz="1800" spc="-1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2AF7E"/>
              </a:solidFill>
              <a:effectLst/>
              <a:latin typeface="HY견고딕" pitchFamily="18" charset="-127"/>
              <a:ea typeface="HY견고딕" pitchFamily="18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331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이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27315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40"/>
          <p:cNvSpPr>
            <a:spLocks noChangeArrowheads="1"/>
          </p:cNvSpPr>
          <p:nvPr userDrawn="1"/>
        </p:nvSpPr>
        <p:spPr bwMode="invGray">
          <a:xfrm>
            <a:off x="0" y="-1529"/>
            <a:ext cx="9144000" cy="617311"/>
          </a:xfrm>
          <a:prstGeom prst="rect">
            <a:avLst/>
          </a:prstGeom>
          <a:solidFill>
            <a:schemeClr val="accent2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</p:spPr>
        <p:txBody>
          <a:bodyPr>
            <a:noAutofit/>
          </a:bodyPr>
          <a:lstStyle>
            <a:lvl1pPr algn="l">
              <a:defRPr sz="2400" b="1" spc="-100" baseline="0">
                <a:solidFill>
                  <a:schemeClr val="tx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latinLnBrk="1" hangingPunct="1">
              <a:defRPr/>
            </a:pPr>
            <a:fld id="{1DB67DEF-9DDF-48EA-B298-FF150FB45091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rPr>
              <a:pPr algn="r" eaLnBrk="1" latinLnBrk="1" hangingPunct="1">
                <a:defRPr/>
              </a:pPr>
              <a:t>‹#›</a:t>
            </a:fld>
            <a:r>
              <a:rPr lang="ko-KR" altLang="en-US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rPr>
              <a:t>/ 29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idx="1"/>
          </p:nvPr>
        </p:nvSpPr>
        <p:spPr bwMode="auto">
          <a:xfrm>
            <a:off x="323528" y="764704"/>
            <a:ext cx="8363272" cy="5361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buClr>
                <a:schemeClr val="accent4">
                  <a:lumMod val="75000"/>
                </a:schemeClr>
              </a:buClr>
              <a:buSzPct val="100000"/>
              <a:buFont typeface="Wingdings" panose="05000000000000000000" pitchFamily="2" charset="2"/>
              <a:buChar char="n"/>
              <a:defRPr sz="2200">
                <a:latin typeface="+mn-ea"/>
                <a:ea typeface="+mn-ea"/>
              </a:defRPr>
            </a:lvl1pPr>
            <a:lvl2pPr marL="355600" indent="185738">
              <a:lnSpc>
                <a:spcPct val="150000"/>
              </a:lnSpc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  <a:tabLst>
                <a:tab pos="363538" algn="l"/>
              </a:tabLst>
              <a:defRPr kumimoji="1" lang="ko-KR" altLang="en-US" sz="1800" b="0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250950" indent="-285750">
              <a:buClr>
                <a:schemeClr val="tx1">
                  <a:lumMod val="50000"/>
                  <a:lumOff val="50000"/>
                </a:schemeClr>
              </a:buClr>
              <a:buFont typeface="Arial" pitchFamily="34" charset="0"/>
              <a:buChar char="•"/>
              <a:defRPr sz="1600"/>
            </a:lvl3pPr>
            <a:lvl4pPr marL="1600200" indent="-22860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o"/>
              <a:defRPr sz="1600"/>
            </a:lvl4pPr>
            <a:lvl5pPr marL="2057400" indent="-228600">
              <a:buClr>
                <a:srgbClr val="0070C0"/>
              </a:buClr>
              <a:buFont typeface="Wingdings" panose="05000000000000000000" pitchFamily="2" charset="2"/>
              <a:buChar char="n"/>
              <a:defRPr sz="1400"/>
            </a:lvl5pPr>
            <a:lvl6pPr marL="2514600" indent="-22860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n"/>
              <a:defRPr sz="1200">
                <a:latin typeface="+mn-ea"/>
                <a:ea typeface="+mn-ea"/>
              </a:defRPr>
            </a:lvl6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126113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40"/>
          <p:cNvSpPr>
            <a:spLocks noChangeArrowheads="1"/>
          </p:cNvSpPr>
          <p:nvPr userDrawn="1"/>
        </p:nvSpPr>
        <p:spPr bwMode="invGray">
          <a:xfrm>
            <a:off x="0" y="-1529"/>
            <a:ext cx="9144000" cy="617311"/>
          </a:xfrm>
          <a:prstGeom prst="rect">
            <a:avLst/>
          </a:prstGeom>
          <a:solidFill>
            <a:schemeClr val="accent5">
              <a:lumMod val="60000"/>
              <a:lumOff val="40000"/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1523924" y="188640"/>
            <a:ext cx="5856388" cy="392283"/>
          </a:xfrm>
        </p:spPr>
        <p:txBody>
          <a:bodyPr>
            <a:noAutofit/>
          </a:bodyPr>
          <a:lstStyle>
            <a:lvl1pPr algn="l">
              <a:defRPr sz="2400" b="1" spc="-100" baseline="0">
                <a:solidFill>
                  <a:schemeClr val="tx1"/>
                </a:soli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latinLnBrk="1" hangingPunct="1">
              <a:defRPr/>
            </a:pPr>
            <a:fld id="{1DB67DEF-9DDF-48EA-B298-FF150FB45091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rPr>
              <a:pPr algn="r" eaLnBrk="1" latinLnBrk="1" hangingPunct="1">
                <a:defRPr/>
              </a:pPr>
              <a:t>‹#›</a:t>
            </a:fld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rPr>
              <a:t>/ 49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idx="1"/>
          </p:nvPr>
        </p:nvSpPr>
        <p:spPr bwMode="auto">
          <a:xfrm>
            <a:off x="323528" y="908720"/>
            <a:ext cx="8363272" cy="5217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200" indent="-457200">
              <a:buClr>
                <a:srgbClr val="00B0F0"/>
              </a:buClr>
              <a:buSzPct val="100000"/>
              <a:buFont typeface="+mj-lt"/>
              <a:buAutoNum type="arabicPeriod"/>
              <a:defRPr sz="1600">
                <a:latin typeface="+mn-ea"/>
                <a:ea typeface="+mn-ea"/>
              </a:defRPr>
            </a:lvl1pPr>
            <a:lvl2pPr marL="355600" indent="185738">
              <a:lnSpc>
                <a:spcPct val="15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  <a:tabLst>
                <a:tab pos="363538" algn="l"/>
              </a:tabLst>
              <a:defRPr kumimoji="1" lang="ko-KR" altLang="en-US" sz="1600" b="0" kern="120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250950" indent="-285750">
              <a:buClr>
                <a:schemeClr val="tx1">
                  <a:lumMod val="50000"/>
                  <a:lumOff val="50000"/>
                </a:schemeClr>
              </a:buClr>
              <a:buFont typeface="Arial" pitchFamily="34" charset="0"/>
              <a:buChar char="•"/>
              <a:defRPr sz="1400"/>
            </a:lvl3pPr>
            <a:lvl4pPr marL="1600200" indent="-22860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o"/>
              <a:defRPr sz="1600"/>
            </a:lvl4pPr>
            <a:lvl5pPr marL="2057400" indent="-228600">
              <a:buClr>
                <a:srgbClr val="0070C0"/>
              </a:buClr>
              <a:buFont typeface="Wingdings" panose="05000000000000000000" pitchFamily="2" charset="2"/>
              <a:buChar char="n"/>
              <a:defRPr sz="1400"/>
            </a:lvl5pPr>
            <a:lvl6pPr marL="2514600" indent="-228600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n"/>
              <a:defRPr sz="1200">
                <a:latin typeface="+mn-ea"/>
                <a:ea typeface="+mn-ea"/>
              </a:defRPr>
            </a:lvl6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171500" y="142998"/>
            <a:ext cx="8943424" cy="474732"/>
            <a:chOff x="156126" y="145959"/>
            <a:chExt cx="8943424" cy="474732"/>
          </a:xfrm>
        </p:grpSpPr>
        <p:grpSp>
          <p:nvGrpSpPr>
            <p:cNvPr id="7" name="그룹 6"/>
            <p:cNvGrpSpPr/>
            <p:nvPr userDrawn="1"/>
          </p:nvGrpSpPr>
          <p:grpSpPr>
            <a:xfrm>
              <a:off x="156126" y="145959"/>
              <a:ext cx="1304158" cy="474732"/>
              <a:chOff x="19048" y="103725"/>
              <a:chExt cx="1578031" cy="522204"/>
            </a:xfrm>
            <a:solidFill>
              <a:schemeClr val="accent5">
                <a:lumMod val="60000"/>
                <a:lumOff val="40000"/>
              </a:schemeClr>
            </a:solidFill>
          </p:grpSpPr>
          <p:sp>
            <p:nvSpPr>
              <p:cNvPr id="2" name="모서리가 둥근 직사각형 1"/>
              <p:cNvSpPr/>
              <p:nvPr userDrawn="1"/>
            </p:nvSpPr>
            <p:spPr>
              <a:xfrm>
                <a:off x="19050" y="103725"/>
                <a:ext cx="1578029" cy="516963"/>
              </a:xfrm>
              <a:prstGeom prst="roundRect">
                <a:avLst>
                  <a:gd name="adj" fmla="val 1619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/>
              <p:cNvSpPr/>
              <p:nvPr userDrawn="1"/>
            </p:nvSpPr>
            <p:spPr>
              <a:xfrm>
                <a:off x="19048" y="330520"/>
                <a:ext cx="1578029" cy="29540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u="dash" baseline="0" dirty="0">
                  <a:solidFill>
                    <a:srgbClr val="FFFF00"/>
                  </a:solidFill>
                </a:endParaRPr>
              </a:p>
            </p:txBody>
          </p:sp>
        </p:grpSp>
        <p:cxnSp>
          <p:nvCxnSpPr>
            <p:cNvPr id="10" name="직선 연결선 9"/>
            <p:cNvCxnSpPr/>
            <p:nvPr userDrawn="1"/>
          </p:nvCxnSpPr>
          <p:spPr>
            <a:xfrm>
              <a:off x="855142" y="607988"/>
              <a:ext cx="8244408" cy="0"/>
            </a:xfrm>
            <a:prstGeom prst="line">
              <a:avLst/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 userDrawn="1"/>
        </p:nvSpPr>
        <p:spPr>
          <a:xfrm>
            <a:off x="219770" y="175940"/>
            <a:ext cx="1183878" cy="43510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b="1" u="none" baseline="0" dirty="0">
                <a:solidFill>
                  <a:schemeClr val="bg1"/>
                </a:solidFill>
                <a:latin typeface="+mj-lt"/>
                <a:ea typeface="+mn-ea"/>
              </a:rPr>
              <a:t>종합 예제</a:t>
            </a:r>
          </a:p>
        </p:txBody>
      </p:sp>
    </p:spTree>
    <p:extLst>
      <p:ext uri="{BB962C8B-B14F-4D97-AF65-F5344CB8AC3E}">
        <p14:creationId xmlns:p14="http://schemas.microsoft.com/office/powerpoint/2010/main" val="181750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섹션이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latinLnBrk="1" hangingPunct="1">
              <a:defRPr/>
            </a:pPr>
            <a:fld id="{1DB67DEF-9DDF-48EA-B298-FF150FB45091}" type="slidenum">
              <a:rPr lang="ko-KR" altLang="en-US" sz="120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rPr>
              <a:pPr algn="r" eaLnBrk="1" latinLnBrk="1" hangingPunct="1">
                <a:defRPr/>
              </a:pPr>
              <a:t>‹#›</a:t>
            </a:fld>
            <a:r>
              <a:rPr lang="en-US" altLang="ko-KR" sz="1200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rPr>
              <a:t>/ 49</a:t>
            </a:r>
          </a:p>
        </p:txBody>
      </p:sp>
      <p:sp>
        <p:nvSpPr>
          <p:cNvPr id="5" name="모서리가 둥근 직사각형 4"/>
          <p:cNvSpPr/>
          <p:nvPr userDrawn="1"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34030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1476375" y="2565400"/>
            <a:ext cx="597594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8000" b="1" dirty="0">
                <a:solidFill>
                  <a:srgbClr val="E85542"/>
                </a:solidFill>
                <a:latin typeface="Arial Black" pitchFamily="34" charset="0"/>
                <a:ea typeface="+mn-ea"/>
              </a:rPr>
              <a:t>Thank</a:t>
            </a:r>
            <a:r>
              <a:rPr lang="en-US" altLang="ko-KR" sz="8000" b="1" baseline="0" dirty="0">
                <a:solidFill>
                  <a:srgbClr val="E85542"/>
                </a:solidFill>
                <a:latin typeface="Arial Black" pitchFamily="34" charset="0"/>
                <a:ea typeface="+mn-ea"/>
              </a:rPr>
              <a:t> you!</a:t>
            </a:r>
            <a:endParaRPr lang="ko-KR" altLang="en-US" sz="8000" b="1" dirty="0">
              <a:solidFill>
                <a:srgbClr val="E85542"/>
              </a:solidFill>
              <a:latin typeface="Arial Black" pitchFamily="34" charset="0"/>
              <a:ea typeface="+mn-ea"/>
            </a:endParaRPr>
          </a:p>
        </p:txBody>
      </p:sp>
      <p:pic>
        <p:nvPicPr>
          <p:cNvPr id="4" name="Picture 4" descr="C:\Users\김현용\Desktop\제호.jpg">
            <a:extLst>
              <a:ext uri="{FF2B5EF4-FFF2-40B4-BE49-F238E27FC236}">
                <a16:creationId xmlns:a16="http://schemas.microsoft.com/office/drawing/2014/main" id="{BE07CC8D-77BF-445C-B1CC-57A0F565E6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661" y="5645666"/>
            <a:ext cx="1731819" cy="288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6">
            <a:extLst>
              <a:ext uri="{FF2B5EF4-FFF2-40B4-BE49-F238E27FC236}">
                <a16:creationId xmlns:a16="http://schemas.microsoft.com/office/drawing/2014/main" id="{5B2358EA-0EBE-4085-907F-A5C0D19AC1AC}"/>
              </a:ext>
            </a:extLst>
          </p:cNvPr>
          <p:cNvSpPr/>
          <p:nvPr userDrawn="1"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6" name="직사각형 10">
            <a:extLst>
              <a:ext uri="{FF2B5EF4-FFF2-40B4-BE49-F238E27FC236}">
                <a16:creationId xmlns:a16="http://schemas.microsoft.com/office/drawing/2014/main" id="{1ED32BD4-9132-4F42-A9B1-2274388B022B}"/>
              </a:ext>
            </a:extLst>
          </p:cNvPr>
          <p:cNvSpPr/>
          <p:nvPr userDrawn="1"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96CFAC"/>
          </a:solidFill>
          <a:ln>
            <a:solidFill>
              <a:srgbClr val="96CF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637DD-835B-4D0D-A4B3-8FDDB1A2A0E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46659" y="6309320"/>
            <a:ext cx="270939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1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Copyright© 2023 </a:t>
            </a:r>
            <a:r>
              <a:rPr lang="en-US" altLang="ko-KR" sz="1100" dirty="0" err="1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Hanbit</a:t>
            </a:r>
            <a:r>
              <a:rPr lang="en-US" altLang="ko-KR" sz="11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 Academy, Inc.</a:t>
            </a:r>
          </a:p>
          <a:p>
            <a:pPr algn="ctr" eaLnBrk="1" hangingPunct="1">
              <a:defRPr/>
            </a:pPr>
            <a:r>
              <a:rPr lang="en-US" altLang="ko-KR" sz="1100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</a:rPr>
              <a:t>All rights reserved.</a:t>
            </a:r>
            <a:endParaRPr lang="ko-KR" altLang="ko-KR" sz="1100" dirty="0">
              <a:solidFill>
                <a:schemeClr val="tx1"/>
              </a:solidFill>
              <a:latin typeface="+mn-ea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375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134AE88-8089-46AF-B006-A187AD486C13}" type="datetime1">
              <a:rPr lang="ko-KR" altLang="en-US"/>
              <a:pPr>
                <a:defRPr/>
              </a:pPr>
              <a:t>2023-09-04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ea typeface="맑은 고딕" pitchFamily="50" charset="-127"/>
              </a:defRPr>
            </a:lvl1pPr>
          </a:lstStyle>
          <a:p>
            <a:fld id="{0DE046FA-B321-48D0-9889-EEF2519A1D9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6" r:id="rId1"/>
    <p:sldLayoutId id="2147484233" r:id="rId2"/>
    <p:sldLayoutId id="2147484229" r:id="rId3"/>
    <p:sldLayoutId id="2147484231" r:id="rId4"/>
    <p:sldLayoutId id="2147484232" r:id="rId5"/>
    <p:sldLayoutId id="2147484237" r:id="rId6"/>
    <p:sldLayoutId id="2147484230" r:id="rId7"/>
    <p:sldLayoutId id="2147484234" r:id="rId8"/>
    <p:sldLayoutId id="2147484239" r:id="rId9"/>
    <p:sldLayoutId id="2147484238" r:id="rId10"/>
    <p:sldLayoutId id="2147484235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3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64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 bwMode="auto">
          <a:xfrm>
            <a:off x="1397877" y="836712"/>
            <a:ext cx="7412607" cy="1631216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indent="0" algn="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rgbClr val="E85542"/>
                </a:solidFill>
                <a:latin typeface="+mj-ea"/>
                <a:ea typeface="+mj-ea"/>
              </a:rPr>
              <a:t>Chapter 02</a:t>
            </a:r>
            <a:endParaRPr lang="en-US" altLang="ko-KR" sz="4000" b="1" baseline="0" dirty="0">
              <a:solidFill>
                <a:srgbClr val="E85542"/>
              </a:solidFill>
              <a:latin typeface="+mj-ea"/>
              <a:ea typeface="+mj-ea"/>
            </a:endParaRPr>
          </a:p>
          <a:p>
            <a:pPr marL="0" marR="0" indent="0" algn="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4000" b="1" kern="1200" spc="-150" dirty="0">
                <a:latin typeface="+mj-ea"/>
                <a:ea typeface="+mj-ea"/>
              </a:rPr>
              <a:t>웹 페이지 기본 구조와 작성 방법</a:t>
            </a:r>
            <a:endParaRPr kumimoji="1" lang="en-US" altLang="ko-KR" sz="4000" b="1" kern="1200" spc="-1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50746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dirty="0"/>
              <a:t>HTML5 </a:t>
            </a:r>
            <a:r>
              <a:rPr lang="ko-KR" altLang="en-US" dirty="0"/>
              <a:t>기본 용어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HTML5 </a:t>
            </a:r>
            <a:r>
              <a:rPr lang="ko-KR" altLang="en-US" dirty="0"/>
              <a:t>페이지 구조와 작성법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오류와 검증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03454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ko-KR" altLang="en-US" dirty="0"/>
              <a:t>태그</a:t>
            </a:r>
            <a:r>
              <a:rPr lang="en-US" altLang="ko-KR" dirty="0"/>
              <a:t>, </a:t>
            </a:r>
            <a:r>
              <a:rPr lang="ko-KR" altLang="en-US" dirty="0"/>
              <a:t>요소</a:t>
            </a:r>
            <a:r>
              <a:rPr lang="en-US" altLang="ko-KR" dirty="0"/>
              <a:t>, </a:t>
            </a:r>
            <a:r>
              <a:rPr lang="ko-KR" altLang="en-US" dirty="0"/>
              <a:t>속성의 의미를 이해합니다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HTML </a:t>
            </a:r>
            <a:r>
              <a:rPr lang="ko-KR" altLang="en-US" dirty="0"/>
              <a:t>태그</a:t>
            </a:r>
            <a:r>
              <a:rPr lang="en-US" altLang="ko-KR" dirty="0"/>
              <a:t>, CSS, </a:t>
            </a:r>
            <a:r>
              <a:rPr lang="ko-KR" altLang="en-US" dirty="0"/>
              <a:t>자바스크립트를 사용해 </a:t>
            </a:r>
            <a:br>
              <a:rPr lang="en-US" altLang="ko-KR" dirty="0"/>
            </a:br>
            <a:r>
              <a:rPr lang="ko-KR" altLang="en-US" dirty="0"/>
              <a:t>웹 페이지를 작성하는 방법을 익힙니다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검사 기능으로 </a:t>
            </a:r>
            <a:r>
              <a:rPr lang="ko-KR" altLang="en-US" dirty="0" err="1"/>
              <a:t>디버그하는</a:t>
            </a:r>
            <a:r>
              <a:rPr lang="ko-KR" altLang="en-US" dirty="0"/>
              <a:t> 방법을 알아봅니다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4618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2456892"/>
            <a:ext cx="8496944" cy="194421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altLang="ko-KR" sz="4000" b="1" dirty="0">
                <a:latin typeface="+mj-lt"/>
              </a:rPr>
              <a:t>Section 01</a:t>
            </a:r>
          </a:p>
          <a:p>
            <a:pPr algn="ctr"/>
            <a:r>
              <a:rPr lang="en-US" altLang="ko-KR" sz="4000" b="1" dirty="0">
                <a:latin typeface="+mn-ea"/>
                <a:ea typeface="+mn-ea"/>
              </a:rPr>
              <a:t>HTML5 </a:t>
            </a:r>
            <a:r>
              <a:rPr lang="ko-KR" altLang="en-US" sz="4000" b="1" dirty="0">
                <a:latin typeface="+mn-ea"/>
                <a:ea typeface="+mn-ea"/>
              </a:rPr>
              <a:t>기본 용어</a:t>
            </a:r>
          </a:p>
        </p:txBody>
      </p:sp>
    </p:spTree>
    <p:extLst>
      <p:ext uri="{BB962C8B-B14F-4D97-AF65-F5344CB8AC3E}">
        <p14:creationId xmlns:p14="http://schemas.microsoft.com/office/powerpoint/2010/main" val="2312365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HTML5 </a:t>
            </a:r>
            <a:r>
              <a:rPr lang="ko-KR" altLang="en-US" dirty="0"/>
              <a:t>기본 용어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1. </a:t>
            </a:r>
            <a:r>
              <a:rPr lang="ko-KR" altLang="en-US" b="1" dirty="0"/>
              <a:t>태그와 요소</a:t>
            </a:r>
            <a:endParaRPr lang="en-US" altLang="ko-KR" b="1" dirty="0"/>
          </a:p>
          <a:p>
            <a:r>
              <a:rPr lang="ko-KR" altLang="en-US" b="1" dirty="0"/>
              <a:t>요소</a:t>
            </a:r>
            <a:r>
              <a:rPr lang="en-US" altLang="ko-KR" dirty="0"/>
              <a:t> : HTML </a:t>
            </a:r>
            <a:r>
              <a:rPr lang="ko-KR" altLang="en-US" dirty="0"/>
              <a:t>페이지를 구성하는 각 부품</a:t>
            </a:r>
            <a:endParaRPr lang="en-US" altLang="ko-KR" dirty="0"/>
          </a:p>
          <a:p>
            <a:pPr lvl="1"/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본문</a:t>
            </a:r>
            <a:r>
              <a:rPr lang="en-US" altLang="ko-KR" dirty="0"/>
              <a:t>, </a:t>
            </a:r>
            <a:r>
              <a:rPr lang="ko-KR" altLang="en-US" dirty="0"/>
              <a:t>이미지 등이 모두 요소</a:t>
            </a:r>
            <a:endParaRPr lang="en-US" altLang="ko-KR" dirty="0"/>
          </a:p>
          <a:p>
            <a:pPr lvl="1"/>
            <a:r>
              <a:rPr lang="ko-KR" altLang="en-US" dirty="0"/>
              <a:t>자바스크립트 개발에서는 요소를 객체</a:t>
            </a:r>
            <a:r>
              <a:rPr lang="en-US" altLang="ko-KR" dirty="0"/>
              <a:t>(object)</a:t>
            </a:r>
            <a:r>
              <a:rPr lang="ko-KR" altLang="en-US" dirty="0"/>
              <a:t>라고도 함</a:t>
            </a:r>
            <a:endParaRPr lang="en-US" altLang="ko-KR" dirty="0"/>
          </a:p>
          <a:p>
            <a:r>
              <a:rPr lang="ko-KR" altLang="en-US" b="1" dirty="0"/>
              <a:t>태그 </a:t>
            </a:r>
            <a:r>
              <a:rPr lang="en-US" altLang="ko-KR" dirty="0"/>
              <a:t>: </a:t>
            </a:r>
            <a:r>
              <a:rPr lang="ko-KR" altLang="en-US" dirty="0"/>
              <a:t> 요소를 만들 때 사용하는 작성 방법</a:t>
            </a:r>
            <a:endParaRPr lang="en-US" altLang="ko-KR" dirty="0"/>
          </a:p>
          <a:p>
            <a:pPr lvl="1"/>
            <a:r>
              <a:rPr lang="ko-KR" altLang="en-US" dirty="0"/>
              <a:t>흔히 요소와 태그를 구분하지 않고 사용</a:t>
            </a:r>
            <a:endParaRPr lang="en-US" altLang="ko-KR" dirty="0"/>
          </a:p>
          <a:p>
            <a:r>
              <a:rPr lang="ko-KR" altLang="en-US" dirty="0"/>
              <a:t>내용을 가질 수 있는 요소와 내용을 가질 수 없는 요소</a:t>
            </a:r>
            <a:endParaRPr lang="en-US" altLang="ko-KR" dirty="0"/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7D14641-8DA3-02CD-F71F-05589BAEF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915332"/>
            <a:ext cx="6977756" cy="283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62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HTML5 </a:t>
            </a:r>
            <a:r>
              <a:rPr lang="ko-KR" altLang="en-US" dirty="0"/>
              <a:t>기본 용어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1. </a:t>
            </a:r>
            <a:r>
              <a:rPr lang="ko-KR" altLang="en-US" b="1" dirty="0"/>
              <a:t>태그와 요소</a:t>
            </a:r>
            <a:endParaRPr lang="en-US" altLang="ko-KR" b="1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내용을 가질 수 있는 요소를 생성할 때 </a:t>
            </a:r>
            <a:endParaRPr lang="en-US" altLang="ko-KR" dirty="0"/>
          </a:p>
          <a:p>
            <a:pPr lvl="1"/>
            <a:r>
              <a:rPr lang="ko-KR" altLang="en-US" b="1" dirty="0"/>
              <a:t>시작 태그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내용 앞에 붙이는 태그</a:t>
            </a:r>
            <a:endParaRPr lang="en-US" altLang="ko-KR" dirty="0"/>
          </a:p>
          <a:p>
            <a:pPr lvl="1"/>
            <a:r>
              <a:rPr lang="ko-KR" altLang="en-US" b="1" dirty="0"/>
              <a:t>끝 태그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내용 뒤에 붙이는 태그</a:t>
            </a:r>
            <a:endParaRPr lang="en-US" altLang="ko-KR" dirty="0"/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EFE26A74-56D2-B01A-FE0F-E9AF473C0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268760"/>
            <a:ext cx="6096000" cy="3743325"/>
          </a:xfrm>
          <a:prstGeom prst="rect">
            <a:avLst/>
          </a:prstGeom>
        </p:spPr>
      </p:pic>
      <p:pic>
        <p:nvPicPr>
          <p:cNvPr id="7" name="그림 6" descr="텍스트, 폰트, 스크린샷, 화이트이(가) 표시된 사진&#10;&#10;자동 생성된 설명">
            <a:extLst>
              <a:ext uri="{FF2B5EF4-FFF2-40B4-BE49-F238E27FC236}">
                <a16:creationId xmlns:a16="http://schemas.microsoft.com/office/drawing/2014/main" id="{2EB13209-62CD-0395-7562-F00819F137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5654502"/>
            <a:ext cx="3444999" cy="109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52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1073CF-E07F-5F61-540A-51A14D600026}"/>
              </a:ext>
            </a:extLst>
          </p:cNvPr>
          <p:cNvSpPr/>
          <p:nvPr/>
        </p:nvSpPr>
        <p:spPr>
          <a:xfrm>
            <a:off x="323528" y="1484784"/>
            <a:ext cx="8363272" cy="3528392"/>
          </a:xfrm>
          <a:prstGeom prst="rect">
            <a:avLst/>
          </a:prstGeom>
          <a:solidFill>
            <a:srgbClr val="F1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HTML5 </a:t>
            </a:r>
            <a:r>
              <a:rPr lang="ko-KR" altLang="en-US" dirty="0"/>
              <a:t>기본 용어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1. </a:t>
            </a:r>
            <a:r>
              <a:rPr lang="ko-KR" altLang="en-US" b="1" dirty="0"/>
              <a:t>태그와 요소</a:t>
            </a:r>
            <a:endParaRPr lang="en-US" altLang="ko-KR" b="1" dirty="0"/>
          </a:p>
          <a:p>
            <a:pPr marL="1365250" lvl="2" indent="-457200">
              <a:buAutoNum type="arabicPeriod"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00CC66"/>
                </a:solidFill>
              </a:rPr>
              <a:t>NOTE</a:t>
            </a:r>
            <a:r>
              <a:rPr lang="ko-KR" altLang="en-US" b="1" dirty="0"/>
              <a:t> </a:t>
            </a:r>
            <a:r>
              <a:rPr lang="en-US" altLang="ko-KR" b="1" dirty="0"/>
              <a:t>HTML</a:t>
            </a:r>
            <a:r>
              <a:rPr lang="ko-KR" altLang="en-US" b="1" dirty="0"/>
              <a:t> 표기법과 </a:t>
            </a:r>
            <a:r>
              <a:rPr lang="en-US" altLang="ko-KR" b="1" dirty="0"/>
              <a:t>XHTML </a:t>
            </a:r>
            <a:r>
              <a:rPr lang="ko-KR" altLang="en-US" b="1" dirty="0"/>
              <a:t>표기법</a:t>
            </a:r>
            <a:endParaRPr lang="en-US" altLang="ko-KR" b="1" dirty="0"/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표기법은 </a:t>
            </a:r>
            <a:r>
              <a:rPr lang="en-US" altLang="ko-KR" dirty="0"/>
              <a:t>&lt;</a:t>
            </a:r>
            <a:r>
              <a:rPr lang="ko-KR" altLang="en-US" dirty="0"/>
              <a:t>요소 이름</a:t>
            </a:r>
            <a:r>
              <a:rPr lang="en-US" altLang="ko-KR" dirty="0"/>
              <a:t>&gt;</a:t>
            </a:r>
            <a:r>
              <a:rPr lang="ko-KR" altLang="en-US" dirty="0"/>
              <a:t>만으로 요소를 생성하기 때문에 </a:t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ko-KR" altLang="en-US" dirty="0"/>
              <a:t>내용을 가질 수 있는 태그의 시작 태그로 오해할 수 있음</a:t>
            </a:r>
            <a:endParaRPr lang="en-US" altLang="ko-KR" dirty="0"/>
          </a:p>
          <a:p>
            <a:pPr lvl="1"/>
            <a:r>
              <a:rPr lang="en-US" altLang="ko-KR" dirty="0"/>
              <a:t>XHTML </a:t>
            </a:r>
            <a:r>
              <a:rPr lang="ko-KR" altLang="en-US" dirty="0"/>
              <a:t>표기법 </a:t>
            </a:r>
            <a:r>
              <a:rPr lang="en-US" altLang="ko-KR" dirty="0"/>
              <a:t>: </a:t>
            </a:r>
            <a:r>
              <a:rPr lang="ko-KR" altLang="en-US" dirty="0"/>
              <a:t>명확하게 내용을 가질 수 없는 태그라고 표기할 수 있음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D81E66-A5D5-330B-C4E2-25DD4D2C6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3" y="3284984"/>
            <a:ext cx="3435332" cy="151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50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HTML5 </a:t>
            </a:r>
            <a:r>
              <a:rPr lang="ko-KR" altLang="en-US" dirty="0"/>
              <a:t>기본 용어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2. </a:t>
            </a:r>
            <a:r>
              <a:rPr lang="ko-KR" altLang="en-US" b="1" dirty="0"/>
              <a:t>속성</a:t>
            </a:r>
            <a:endParaRPr lang="en-US" altLang="ko-KR" b="1" dirty="0"/>
          </a:p>
          <a:p>
            <a:r>
              <a:rPr lang="ko-KR" altLang="en-US" b="1" dirty="0"/>
              <a:t>속성</a:t>
            </a:r>
            <a:r>
              <a:rPr lang="en-US" altLang="ko-KR" dirty="0"/>
              <a:t> : </a:t>
            </a:r>
            <a:r>
              <a:rPr lang="ko-KR" altLang="en-US" dirty="0"/>
              <a:t>태그에 추가 정보를 부여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(a)</a:t>
            </a:r>
            <a:r>
              <a:rPr lang="ko-KR" altLang="en-US" dirty="0"/>
              <a:t>는 </a:t>
            </a:r>
            <a:r>
              <a:rPr lang="en-US" altLang="ko-KR" dirty="0"/>
              <a:t>h1 </a:t>
            </a:r>
            <a:r>
              <a:rPr lang="ko-KR" altLang="en-US" dirty="0"/>
              <a:t>태그에 </a:t>
            </a:r>
            <a:r>
              <a:rPr lang="en-US" altLang="ko-KR" dirty="0"/>
              <a:t>title </a:t>
            </a:r>
            <a:r>
              <a:rPr lang="ko-KR" altLang="en-US" dirty="0"/>
              <a:t>속성을 부여</a:t>
            </a:r>
            <a:endParaRPr lang="en-US" altLang="ko-KR" dirty="0"/>
          </a:p>
          <a:p>
            <a:pPr lvl="1"/>
            <a:r>
              <a:rPr lang="en-US" altLang="ko-KR" dirty="0"/>
              <a:t>(b)</a:t>
            </a:r>
            <a:r>
              <a:rPr lang="ko-KR" altLang="en-US" dirty="0"/>
              <a:t>는 </a:t>
            </a:r>
            <a:r>
              <a:rPr lang="en-US" altLang="ko-KR" dirty="0" err="1"/>
              <a:t>src</a:t>
            </a:r>
            <a:r>
              <a:rPr lang="en-US" altLang="ko-KR" dirty="0"/>
              <a:t> </a:t>
            </a:r>
            <a:r>
              <a:rPr lang="ko-KR" altLang="en-US" dirty="0"/>
              <a:t>속성에 출력할 이미지 정보를 입력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1D1BE55A-F892-AB2B-B42A-AAD8C72D4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655329"/>
            <a:ext cx="6048672" cy="271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718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01. HTML5 </a:t>
            </a:r>
            <a:r>
              <a:rPr lang="ko-KR" altLang="en-US" dirty="0"/>
              <a:t>기본 용어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3. </a:t>
            </a:r>
            <a:r>
              <a:rPr lang="ko-KR" altLang="en-US" b="1" dirty="0"/>
              <a:t>주석</a:t>
            </a:r>
            <a:endParaRPr lang="en-US" altLang="ko-KR" b="1" dirty="0"/>
          </a:p>
          <a:p>
            <a:r>
              <a:rPr lang="ko-KR" altLang="en-US" b="1" dirty="0"/>
              <a:t>주석</a:t>
            </a:r>
            <a:r>
              <a:rPr lang="en-US" altLang="ko-KR" dirty="0"/>
              <a:t> : </a:t>
            </a:r>
            <a:r>
              <a:rPr lang="ko-KR" altLang="en-US" dirty="0"/>
              <a:t>프로그램 실행에 영향을 미치지 않으면서 설명하는 코드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F86F5D69-E250-0231-C586-0A9F5EFCE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" y="1700808"/>
            <a:ext cx="813435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945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87724" y="2456892"/>
            <a:ext cx="4968552" cy="194421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altLang="ko-KR" sz="4000" b="1" dirty="0">
                <a:latin typeface="+mj-lt"/>
              </a:rPr>
              <a:t>Section 02</a:t>
            </a:r>
          </a:p>
          <a:p>
            <a:pPr algn="ctr"/>
            <a:r>
              <a:rPr lang="en-US" altLang="ko-KR" sz="4000" b="1" dirty="0">
                <a:latin typeface="+mn-ea"/>
                <a:ea typeface="+mn-ea"/>
              </a:rPr>
              <a:t>HTML5 </a:t>
            </a:r>
            <a:r>
              <a:rPr lang="ko-KR" altLang="en-US" sz="4000" b="1" dirty="0">
                <a:latin typeface="+mn-ea"/>
                <a:ea typeface="+mn-ea"/>
              </a:rPr>
              <a:t>페이지 구조와 작성법</a:t>
            </a:r>
          </a:p>
        </p:txBody>
      </p:sp>
    </p:spTree>
    <p:extLst>
      <p:ext uri="{BB962C8B-B14F-4D97-AF65-F5344CB8AC3E}">
        <p14:creationId xmlns:p14="http://schemas.microsoft.com/office/powerpoint/2010/main" val="261630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1. HTML5</a:t>
            </a:r>
            <a:r>
              <a:rPr lang="ko-KR" altLang="en-US" b="1" dirty="0"/>
              <a:t> 페이지의 구조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모든 </a:t>
            </a:r>
            <a:r>
              <a:rPr lang="en-US" altLang="ko-KR" dirty="0"/>
              <a:t>HTML5 </a:t>
            </a:r>
            <a:r>
              <a:rPr lang="ko-KR" altLang="en-US" dirty="0"/>
              <a:t>페이지의 기본 구조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4438B45-7259-5498-B607-9611C6234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7" y="1916832"/>
            <a:ext cx="8496946" cy="350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71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1. HTML5 </a:t>
            </a:r>
            <a:r>
              <a:rPr lang="ko-KR" altLang="en-US" b="1" dirty="0"/>
              <a:t>페이지의 구조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lang </a:t>
            </a:r>
            <a:r>
              <a:rPr lang="ko-KR" altLang="en-US" dirty="0"/>
              <a:t>속성 </a:t>
            </a:r>
            <a:r>
              <a:rPr lang="en-US" altLang="ko-KR" dirty="0"/>
              <a:t>: </a:t>
            </a:r>
            <a:r>
              <a:rPr lang="ko-KR" altLang="en-US" dirty="0"/>
              <a:t>검색 엔진이 웹 페이지를 탐색할 때 해당 웹 페이지를 어떤 언어로 작성했는지 쉽게 알 수 있도록 도움</a:t>
            </a:r>
            <a:endParaRPr lang="en-US" altLang="ko-KR" dirty="0"/>
          </a:p>
          <a:p>
            <a:r>
              <a:rPr lang="en-US" altLang="ko-KR" dirty="0"/>
              <a:t>head </a:t>
            </a:r>
            <a:r>
              <a:rPr lang="ko-KR" altLang="en-US" dirty="0"/>
              <a:t>태그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표 </a:t>
            </a:r>
            <a:r>
              <a:rPr lang="en-US" altLang="ko-KR" dirty="0"/>
              <a:t>2-4]</a:t>
            </a:r>
            <a:r>
              <a:rPr lang="ko-KR" altLang="en-US" dirty="0"/>
              <a:t>와 같은 태그만 입력할 수 있고</a:t>
            </a:r>
            <a:r>
              <a:rPr lang="en-US" altLang="ko-KR" dirty="0"/>
              <a:t>, </a:t>
            </a:r>
            <a:r>
              <a:rPr lang="ko-KR" altLang="en-US" dirty="0"/>
              <a:t>다른 태그를 넣으면 웹 </a:t>
            </a:r>
            <a:r>
              <a:rPr lang="ko-KR" altLang="en-US" dirty="0" err="1"/>
              <a:t>브라우</a:t>
            </a:r>
            <a:r>
              <a:rPr lang="ko-KR" altLang="en-US" dirty="0"/>
              <a:t> 저가 </a:t>
            </a:r>
            <a:r>
              <a:rPr lang="en-US" altLang="ko-KR" dirty="0"/>
              <a:t>body </a:t>
            </a:r>
            <a:r>
              <a:rPr lang="ko-KR" altLang="en-US" dirty="0"/>
              <a:t>태그로 자동으로 옮김</a:t>
            </a:r>
            <a:endParaRPr lang="en-US" altLang="ko-KR" dirty="0"/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0CBCC082-E0DA-8766-0BE3-785CCE0F0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340768"/>
            <a:ext cx="2619375" cy="3695700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1E82799A-8EF7-C9B3-06A3-B19537E6D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1340768"/>
            <a:ext cx="33528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38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1. HTML5 </a:t>
            </a:r>
            <a:r>
              <a:rPr lang="ko-KR" altLang="en-US" b="1" dirty="0"/>
              <a:t>페이지의 구조</a:t>
            </a:r>
          </a:p>
          <a:p>
            <a:r>
              <a:rPr lang="en-US" altLang="ko-KR" dirty="0"/>
              <a:t>head </a:t>
            </a:r>
            <a:r>
              <a:rPr lang="ko-KR" altLang="en-US" dirty="0"/>
              <a:t>태그 안의 </a:t>
            </a:r>
            <a:r>
              <a:rPr lang="en-US" altLang="ko-KR" dirty="0"/>
              <a:t>title </a:t>
            </a:r>
            <a:r>
              <a:rPr lang="ko-KR" altLang="en-US" dirty="0"/>
              <a:t>태그에 글자를 입력하면 웹 브라우저 위쪽에 표시됨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4984374A-4ED2-0147-C7C2-2297D41E6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5" y="2204864"/>
            <a:ext cx="5472610" cy="278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52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875853"/>
            <a:ext cx="8363272" cy="5361459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kern="12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HTML5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페이지의 작성과 실행</a:t>
            </a:r>
            <a:endParaRPr lang="en-US" altLang="ko-KR" b="1" kern="120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ko-KR" altLang="en-US" dirty="0"/>
              <a:t>비주얼 스튜디오 코드 </a:t>
            </a:r>
            <a:r>
              <a:rPr lang="en-US" altLang="ko-KR" dirty="0"/>
              <a:t>[</a:t>
            </a:r>
            <a:r>
              <a:rPr lang="ko-KR" altLang="en-US" dirty="0"/>
              <a:t>파일</a:t>
            </a:r>
            <a:r>
              <a:rPr lang="en-US" altLang="ko-KR" dirty="0"/>
              <a:t>]-[</a:t>
            </a:r>
            <a:r>
              <a:rPr lang="ko-KR" altLang="en-US" dirty="0"/>
              <a:t>새 파일</a:t>
            </a:r>
            <a:r>
              <a:rPr lang="en-US" altLang="ko-KR" dirty="0"/>
              <a:t>] </a:t>
            </a:r>
            <a:r>
              <a:rPr lang="ko-KR" altLang="en-US" dirty="0"/>
              <a:t>또는 단축키 </a:t>
            </a:r>
            <a:r>
              <a:rPr lang="en-US" altLang="ko-KR" dirty="0"/>
              <a:t>[Ctrl]+[N]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25972A0B-9A0E-0E74-390A-C3254CCB0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25" y="1744556"/>
            <a:ext cx="7372350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26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764705"/>
            <a:ext cx="8363272" cy="18002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kern="12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HTML5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페이지의 작성과 실행</a:t>
            </a:r>
            <a:endParaRPr lang="en-US" altLang="ko-KR" b="1" dirty="0"/>
          </a:p>
          <a:p>
            <a:r>
              <a:rPr lang="en-US" altLang="ko-KR" dirty="0"/>
              <a:t>[</a:t>
            </a:r>
            <a:r>
              <a:rPr lang="ko-KR" altLang="en-US" dirty="0"/>
              <a:t>코드 </a:t>
            </a:r>
            <a:r>
              <a:rPr lang="en-US" altLang="ko-KR" dirty="0"/>
              <a:t>2-1] </a:t>
            </a:r>
            <a:r>
              <a:rPr lang="ko-KR" altLang="en-US" dirty="0"/>
              <a:t>작성 후 </a:t>
            </a:r>
            <a:r>
              <a:rPr lang="en-US" altLang="ko-KR" dirty="0"/>
              <a:t>[</a:t>
            </a:r>
            <a:r>
              <a:rPr lang="ko-KR" altLang="en-US" dirty="0"/>
              <a:t>파일</a:t>
            </a:r>
            <a:r>
              <a:rPr lang="en-US" altLang="ko-KR" dirty="0"/>
              <a:t>]-[</a:t>
            </a:r>
            <a:r>
              <a:rPr lang="ko-KR" altLang="en-US" dirty="0"/>
              <a:t>다른 이름으로 저장</a:t>
            </a:r>
            <a:r>
              <a:rPr lang="en-US" altLang="ko-KR" dirty="0"/>
              <a:t>] </a:t>
            </a:r>
            <a:r>
              <a:rPr lang="ko-KR" altLang="en-US" dirty="0"/>
              <a:t>메뉴 선택해 </a:t>
            </a:r>
            <a:r>
              <a:rPr lang="en-US" altLang="ko-KR" dirty="0"/>
              <a:t>“C:\</a:t>
            </a:r>
            <a:r>
              <a:rPr lang="ko-KR" altLang="en-US" dirty="0"/>
              <a:t>수업</a:t>
            </a:r>
            <a:r>
              <a:rPr lang="en-US" altLang="ko-KR" dirty="0"/>
              <a:t>” </a:t>
            </a:r>
            <a:r>
              <a:rPr lang="ko-KR" altLang="en-US" dirty="0"/>
              <a:t>폴더에 </a:t>
            </a:r>
            <a:r>
              <a:rPr lang="en-US" altLang="ko-KR" dirty="0"/>
              <a:t>HTMLPage.html</a:t>
            </a:r>
            <a:r>
              <a:rPr lang="ko-KR" altLang="en-US" dirty="0"/>
              <a:t>로 저장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FE15E5-4BDC-827B-D21C-E715E6993897}"/>
              </a:ext>
            </a:extLst>
          </p:cNvPr>
          <p:cNvSpPr txBox="1"/>
          <p:nvPr/>
        </p:nvSpPr>
        <p:spPr>
          <a:xfrm>
            <a:off x="754159" y="2790178"/>
            <a:ext cx="7706273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</a:t>
            </a:r>
            <a:r>
              <a:rPr lang="en-US" altLang="ko-KR" sz="18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DOCTYPE </a:t>
            </a:r>
            <a:r>
              <a:rPr lang="en-US" altLang="ko-KR" sz="1800" b="0" i="0" u="none" strike="noStrike" baseline="0" dirty="0">
                <a:solidFill>
                  <a:srgbClr val="E8371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8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8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pPr>
              <a:spcAft>
                <a:spcPts val="400"/>
              </a:spcAft>
            </a:pPr>
            <a:r>
              <a:rPr lang="en-US" altLang="ko-KR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8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HTML5 Basic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8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8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8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body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pPr>
              <a:spcAft>
                <a:spcPts val="400"/>
              </a:spcAft>
            </a:pP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18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h1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Hello World..!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8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h1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8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body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8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C69D8F-620F-3DD6-6FAD-F204091664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00" t="4566"/>
          <a:stretch/>
        </p:blipFill>
        <p:spPr>
          <a:xfrm>
            <a:off x="755245" y="2431399"/>
            <a:ext cx="2521698" cy="36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47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875853"/>
            <a:ext cx="8363272" cy="536145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kern="120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HTML5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페이지의 작성과 실행</a:t>
            </a:r>
            <a:endParaRPr lang="en-US" altLang="ko-KR" b="1" dirty="0"/>
          </a:p>
          <a:p>
            <a:r>
              <a:rPr lang="ko-KR" altLang="en-US" dirty="0"/>
              <a:t>저장한 </a:t>
            </a:r>
            <a:r>
              <a:rPr lang="en-US" altLang="ko-KR" dirty="0"/>
              <a:t>HTMLPabe.html</a:t>
            </a:r>
            <a:r>
              <a:rPr lang="ko-KR" altLang="en-US" dirty="0"/>
              <a:t>을 크롬으로 </a:t>
            </a:r>
            <a:r>
              <a:rPr lang="ko-KR" altLang="en-US" dirty="0" err="1"/>
              <a:t>드래그하면</a:t>
            </a:r>
            <a:r>
              <a:rPr lang="ko-KR" altLang="en-US" dirty="0"/>
              <a:t> 실행됨</a:t>
            </a:r>
            <a:endParaRPr lang="en-US" altLang="ko-KR" dirty="0"/>
          </a:p>
          <a:p>
            <a:pPr lvl="1"/>
            <a:r>
              <a:rPr lang="ko-KR" altLang="en-US" dirty="0"/>
              <a:t>기본 웹 브라우저가 크롬이면 </a:t>
            </a:r>
            <a:r>
              <a:rPr lang="en-US" altLang="ko-KR" dirty="0"/>
              <a:t>HTMLPage.html</a:t>
            </a:r>
            <a:r>
              <a:rPr lang="ko-KR" altLang="en-US" dirty="0"/>
              <a:t>을 더블클릭만 해도 실행됨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06BD7563-269D-F0F5-3959-D695E2E54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470779"/>
            <a:ext cx="8784976" cy="351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68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947861"/>
            <a:ext cx="8363272" cy="5361459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스타일시트 작성과 실행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/>
              <a:t>두 가지 방법의 스타일시트를 사용해 스타일 적용</a:t>
            </a:r>
            <a:endParaRPr lang="en-US" altLang="ko-KR" dirty="0"/>
          </a:p>
          <a:p>
            <a:pPr lvl="1"/>
            <a:r>
              <a:rPr lang="ko-KR" altLang="en-US" b="1" dirty="0"/>
              <a:t>내부 스타일 방법</a:t>
            </a:r>
            <a:r>
              <a:rPr lang="ko-KR" altLang="en-US" dirty="0"/>
              <a:t> </a:t>
            </a:r>
            <a:r>
              <a:rPr lang="en-US" altLang="ko-KR" dirty="0"/>
              <a:t>: style </a:t>
            </a:r>
            <a:r>
              <a:rPr lang="ko-KR" altLang="en-US" dirty="0"/>
              <a:t>태그를 사용해 스타일시트를 직접 입력</a:t>
            </a:r>
            <a:endParaRPr lang="en-US" altLang="ko-KR" dirty="0"/>
          </a:p>
          <a:p>
            <a:pPr lvl="1"/>
            <a:r>
              <a:rPr lang="ko-KR" altLang="en-US" b="1" dirty="0"/>
              <a:t>외부 스타일 방법</a:t>
            </a:r>
            <a:r>
              <a:rPr lang="ko-KR" altLang="en-US" dirty="0"/>
              <a:t> </a:t>
            </a:r>
            <a:r>
              <a:rPr lang="en-US" altLang="ko-KR" dirty="0"/>
              <a:t>: link </a:t>
            </a:r>
            <a:r>
              <a:rPr lang="ko-KR" altLang="en-US" dirty="0"/>
              <a:t>태그의 </a:t>
            </a:r>
            <a:r>
              <a:rPr lang="en-US" altLang="ko-KR" dirty="0" err="1"/>
              <a:t>href</a:t>
            </a:r>
            <a:r>
              <a:rPr lang="en-US" altLang="ko-KR" dirty="0"/>
              <a:t> </a:t>
            </a:r>
            <a:r>
              <a:rPr lang="ko-KR" altLang="en-US" dirty="0"/>
              <a:t>속성을 사용해 스타일시트를 불러옴</a:t>
            </a:r>
            <a:endParaRPr lang="en-US" altLang="ko-KR" dirty="0"/>
          </a:p>
          <a:p>
            <a:pPr lvl="1"/>
            <a:r>
              <a:rPr lang="ko-KR" altLang="en-US" dirty="0"/>
              <a:t>여러 사람이 함께 협업하고 프로젝트 규모가 클 때는 외부 스타일이 좋음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80580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947861"/>
            <a:ext cx="8363272" cy="5361459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스타일시트 작성과 실행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dirty="0"/>
          </a:p>
          <a:p>
            <a:pPr lvl="1"/>
            <a:r>
              <a:rPr lang="en-US" altLang="ko-KR" dirty="0"/>
              <a:t>HTMLPage.html</a:t>
            </a:r>
            <a:r>
              <a:rPr lang="ko-KR" altLang="en-US" dirty="0"/>
              <a:t>의 </a:t>
            </a:r>
            <a:r>
              <a:rPr lang="en-US" altLang="ko-KR" dirty="0"/>
              <a:t>head</a:t>
            </a:r>
            <a:r>
              <a:rPr lang="ko-KR" altLang="en-US" dirty="0"/>
              <a:t>나 </a:t>
            </a:r>
            <a:r>
              <a:rPr lang="en-US" altLang="ko-KR" dirty="0"/>
              <a:t>body </a:t>
            </a:r>
            <a:r>
              <a:rPr lang="ko-KR" altLang="en-US" dirty="0"/>
              <a:t>태그에 </a:t>
            </a:r>
            <a:r>
              <a:rPr lang="en-US" altLang="ko-KR" dirty="0"/>
              <a:t>style </a:t>
            </a:r>
            <a:r>
              <a:rPr lang="ko-KR" altLang="en-US" dirty="0"/>
              <a:t>태그를 생성한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en-US" altLang="ko-KR" dirty="0"/>
              <a:t>HTMLPageWithStyle.html</a:t>
            </a:r>
            <a:r>
              <a:rPr lang="ko-KR" altLang="en-US" dirty="0"/>
              <a:t>로 저장하고 실행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939B60-1704-D4FB-A877-61FA88A8A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" y="1412776"/>
            <a:ext cx="7991475" cy="457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601061-C938-C053-A2AC-1A1829844C0B}"/>
              </a:ext>
            </a:extLst>
          </p:cNvPr>
          <p:cNvSpPr txBox="1"/>
          <p:nvPr/>
        </p:nvSpPr>
        <p:spPr>
          <a:xfrm>
            <a:off x="754159" y="2996952"/>
            <a:ext cx="7634265" cy="37772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DOCTYPE </a:t>
            </a:r>
            <a:r>
              <a:rPr lang="en-US" altLang="ko-KR" sz="1600" b="0" i="0" u="none" strike="noStrike" baseline="0" dirty="0">
                <a:solidFill>
                  <a:srgbClr val="E8371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HTML5 Basic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style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h1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{ </a:t>
            </a:r>
          </a:p>
          <a:p>
            <a:r>
              <a:rPr lang="en-US" altLang="ko-KR" sz="1600" b="0" i="0" u="none" strike="noStrike" baseline="0" dirty="0">
                <a:solidFill>
                  <a:srgbClr val="E8371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color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white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r>
              <a:rPr lang="en-US" altLang="ko-KR" sz="1600" b="0" i="0" u="none" strike="noStrike" baseline="0" dirty="0">
                <a:solidFill>
                  <a:srgbClr val="E8371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background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black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 </a:t>
            </a:r>
          </a:p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style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h1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Hello World..!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h1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4112A8B-615E-734E-BD58-3157BABBF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59" y="2665674"/>
            <a:ext cx="32385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10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947861"/>
            <a:ext cx="8363272" cy="5361459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스타일시트 작성과 실행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dirty="0"/>
          </a:p>
          <a:p>
            <a:pPr lvl="1"/>
            <a:r>
              <a:rPr lang="ko-KR" altLang="en-US" dirty="0"/>
              <a:t>비주얼 스튜디오 코드 </a:t>
            </a:r>
            <a:r>
              <a:rPr lang="en-US" altLang="ko-KR" dirty="0"/>
              <a:t>[</a:t>
            </a:r>
            <a:r>
              <a:rPr lang="ko-KR" altLang="en-US" dirty="0"/>
              <a:t>파일</a:t>
            </a:r>
            <a:r>
              <a:rPr lang="en-US" altLang="ko-KR" dirty="0"/>
              <a:t>]-[</a:t>
            </a:r>
            <a:r>
              <a:rPr lang="ko-KR" altLang="en-US" dirty="0"/>
              <a:t>새 파일</a:t>
            </a:r>
            <a:r>
              <a:rPr lang="en-US" altLang="ko-KR" dirty="0"/>
              <a:t>] </a:t>
            </a:r>
            <a:r>
              <a:rPr lang="ko-KR" altLang="en-US" dirty="0"/>
              <a:t>메뉴를 선택해 새 파일을 생성하고 </a:t>
            </a:r>
            <a:r>
              <a:rPr lang="en-US" altLang="ko-KR" dirty="0"/>
              <a:t>Style.css</a:t>
            </a:r>
            <a:r>
              <a:rPr lang="ko-KR" altLang="en-US" dirty="0"/>
              <a:t>로 저장하면 에디터가 확장자를 자동으로 인식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0231AD-B7F4-C1C5-DEAC-45B71B922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435249"/>
            <a:ext cx="7943850" cy="4095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E4F3A9-AAC2-C376-27A3-D1ECCD57E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09" y="2654052"/>
            <a:ext cx="1895475" cy="342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51070D-3743-DE79-ADEA-D19AB0015804}"/>
              </a:ext>
            </a:extLst>
          </p:cNvPr>
          <p:cNvSpPr txBox="1"/>
          <p:nvPr/>
        </p:nvSpPr>
        <p:spPr>
          <a:xfrm>
            <a:off x="755576" y="2996952"/>
            <a:ext cx="7656115" cy="14401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ko-KR" sz="18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h1 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{ </a:t>
            </a:r>
          </a:p>
          <a:p>
            <a:pPr>
              <a:spcAft>
                <a:spcPts val="400"/>
              </a:spcAft>
            </a:pPr>
            <a:r>
              <a:rPr lang="en-US" altLang="ko-KR" sz="1800" b="0" i="0" u="none" strike="noStrike" baseline="0" dirty="0">
                <a:solidFill>
                  <a:srgbClr val="E8371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color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white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pPr>
              <a:spcAft>
                <a:spcPts val="400"/>
              </a:spcAft>
            </a:pPr>
            <a:r>
              <a:rPr lang="en-US" altLang="ko-KR" sz="1800" b="0" i="0" u="none" strike="noStrike" baseline="0" dirty="0">
                <a:solidFill>
                  <a:srgbClr val="E8371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background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8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black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spcAft>
                <a:spcPts val="400"/>
              </a:spcAft>
            </a:pP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6111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947861"/>
            <a:ext cx="8363272" cy="5361459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스타일시트 작성과 실행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dirty="0"/>
          </a:p>
          <a:p>
            <a:pPr lvl="1"/>
            <a:r>
              <a:rPr lang="en-US" altLang="ko-KR" dirty="0"/>
              <a:t>HTMLPage.html</a:t>
            </a:r>
            <a:r>
              <a:rPr lang="ko-KR" altLang="en-US" dirty="0"/>
              <a:t>을 </a:t>
            </a:r>
            <a:r>
              <a:rPr lang="en-US" altLang="ko-KR" dirty="0"/>
              <a:t>link </a:t>
            </a:r>
            <a:r>
              <a:rPr lang="ko-KR" altLang="en-US" dirty="0"/>
              <a:t>태그를 사용해 외부 스타일시트를 불러오도록 수정하여 </a:t>
            </a:r>
            <a:r>
              <a:rPr lang="en-US" altLang="ko-KR" dirty="0"/>
              <a:t>HTMLPageWithLink.html</a:t>
            </a:r>
            <a:r>
              <a:rPr lang="ko-KR" altLang="en-US" dirty="0"/>
              <a:t>로 저장하고 실행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D09F06-A7D4-3522-4BF8-AC94DD443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435249"/>
            <a:ext cx="7943850" cy="4095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05D5A6E-86DF-A932-59A2-178490998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708920"/>
            <a:ext cx="3162300" cy="352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86C0AC-7020-6E81-0C6E-074332E2793D}"/>
              </a:ext>
            </a:extLst>
          </p:cNvPr>
          <p:cNvSpPr txBox="1"/>
          <p:nvPr/>
        </p:nvSpPr>
        <p:spPr>
          <a:xfrm>
            <a:off x="754159" y="3053440"/>
            <a:ext cx="7634265" cy="3327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</a:t>
            </a:r>
            <a:r>
              <a:rPr lang="en-US" altLang="ko-KR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DOCTYPE </a:t>
            </a:r>
            <a:r>
              <a:rPr lang="en-US" altLang="ko-KR" b="0" i="0" u="none" strike="noStrike" baseline="0" dirty="0">
                <a:solidFill>
                  <a:srgbClr val="E8371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pPr>
              <a:spcAft>
                <a:spcPts val="400"/>
              </a:spcAft>
            </a:pP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HTML5 Basic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pPr>
              <a:spcAft>
                <a:spcPts val="400"/>
              </a:spcAft>
            </a:pP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link </a:t>
            </a:r>
            <a:r>
              <a:rPr lang="en-US" altLang="ko-KR" b="0" i="0" u="none" strike="noStrike" baseline="0" dirty="0" err="1">
                <a:solidFill>
                  <a:srgbClr val="E8371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="stylesheet" </a:t>
            </a:r>
            <a:r>
              <a:rPr lang="en-US" altLang="ko-KR" b="0" i="0" u="none" strike="noStrike" baseline="0" dirty="0" err="1">
                <a:solidFill>
                  <a:srgbClr val="E8371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href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="Style.css"&gt;</a:t>
            </a:r>
          </a:p>
          <a:p>
            <a:pPr>
              <a:spcAft>
                <a:spcPts val="400"/>
              </a:spcAft>
            </a:pP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body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pPr>
              <a:spcAft>
                <a:spcPts val="400"/>
              </a:spcAft>
            </a:pP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h1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Hello World..!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h1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body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3156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947861"/>
            <a:ext cx="8496944" cy="5361459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자바스크립트 작성과 실행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/>
              <a:t>script </a:t>
            </a:r>
            <a:r>
              <a:rPr lang="ko-KR" altLang="en-US" dirty="0"/>
              <a:t>태그를 사용해 내부에서 작성하거나 </a:t>
            </a:r>
            <a:br>
              <a:rPr lang="en-US" altLang="ko-KR" dirty="0"/>
            </a:br>
            <a:r>
              <a:rPr lang="en-US" altLang="ko-KR" dirty="0"/>
              <a:t>script </a:t>
            </a:r>
            <a:r>
              <a:rPr lang="ko-KR" altLang="en-US" dirty="0"/>
              <a:t>태그의 </a:t>
            </a:r>
            <a:r>
              <a:rPr lang="en-US" altLang="ko-KR" dirty="0" err="1"/>
              <a:t>src</a:t>
            </a:r>
            <a:r>
              <a:rPr lang="en-US" altLang="ko-KR" dirty="0"/>
              <a:t> </a:t>
            </a:r>
            <a:r>
              <a:rPr lang="ko-KR" altLang="en-US" dirty="0"/>
              <a:t>속성을 사용해 외부에서 불러오도록 작성 가능</a:t>
            </a:r>
            <a:endParaRPr lang="en-US" altLang="ko-KR" dirty="0"/>
          </a:p>
          <a:p>
            <a:pPr lvl="1"/>
            <a:r>
              <a:rPr lang="ko-KR" altLang="en-US" dirty="0"/>
              <a:t>자바스크립트는 길어질 때가 많아 주로 외부 자바스크립트로 작성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17525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947861"/>
            <a:ext cx="8496944" cy="5361459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자바스크립트 작성과 실행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HTMLPage.html</a:t>
            </a:r>
            <a:r>
              <a:rPr lang="ko-KR" altLang="en-US" dirty="0"/>
              <a:t>의 </a:t>
            </a:r>
            <a:r>
              <a:rPr lang="en-US" altLang="ko-KR" dirty="0"/>
              <a:t>head </a:t>
            </a:r>
            <a:r>
              <a:rPr lang="ko-KR" altLang="en-US" dirty="0"/>
              <a:t>태그나 </a:t>
            </a:r>
            <a:r>
              <a:rPr lang="en-US" altLang="ko-KR" dirty="0"/>
              <a:t>body </a:t>
            </a:r>
            <a:r>
              <a:rPr lang="ko-KR" altLang="en-US" dirty="0"/>
              <a:t>태그에 </a:t>
            </a:r>
            <a:r>
              <a:rPr lang="en-US" altLang="ko-KR" dirty="0" err="1"/>
              <a:t>scipt</a:t>
            </a:r>
            <a:r>
              <a:rPr lang="en-US" altLang="ko-KR" dirty="0"/>
              <a:t> </a:t>
            </a:r>
            <a:r>
              <a:rPr lang="ko-KR" altLang="en-US" dirty="0"/>
              <a:t>태그를 생성한 후 </a:t>
            </a:r>
            <a:r>
              <a:rPr lang="en-US" altLang="ko-KR" dirty="0"/>
              <a:t>HTMLPageWithScript.html</a:t>
            </a:r>
            <a:r>
              <a:rPr lang="ko-KR" altLang="en-US" dirty="0"/>
              <a:t>로 저장하고 실행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5ECB70-E426-E19C-A00E-1F68D9494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417661"/>
            <a:ext cx="7962900" cy="438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547390-8D76-F171-B711-E0071BB7B507}"/>
              </a:ext>
            </a:extLst>
          </p:cNvPr>
          <p:cNvSpPr txBox="1"/>
          <p:nvPr/>
        </p:nvSpPr>
        <p:spPr>
          <a:xfrm>
            <a:off x="754159" y="3068960"/>
            <a:ext cx="7634265" cy="36041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DOCTYPE </a:t>
            </a:r>
            <a:r>
              <a:rPr lang="en-US" altLang="ko-KR" sz="1600" b="0" i="0" u="none" strike="noStrike" baseline="0" dirty="0">
                <a:solidFill>
                  <a:srgbClr val="E8371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HTML5 Basic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script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r>
              <a:rPr lang="en-US" altLang="ko-KR" sz="1600" b="0" i="0" u="none" strike="noStrike" baseline="0" dirty="0">
                <a:solidFill>
                  <a:srgbClr val="009A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// </a:t>
            </a:r>
            <a:r>
              <a:rPr lang="ko-KR" altLang="en-US" sz="1600" b="0" i="0" u="none" strike="noStrike" baseline="0" dirty="0">
                <a:solidFill>
                  <a:srgbClr val="009A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경고 창을 출력합니다</a:t>
            </a:r>
            <a:r>
              <a:rPr lang="en-US" altLang="ko-KR" sz="1600" b="0" i="0" u="none" strike="noStrike" baseline="0" dirty="0">
                <a:solidFill>
                  <a:srgbClr val="009A8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</a:p>
          <a:p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alert(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'Hello JavaScript .. !'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</a:p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script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h1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Hello World..!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h1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D5F173-ED4C-0CD7-69B1-7040ECD72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59" y="2780928"/>
            <a:ext cx="332422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92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947861"/>
            <a:ext cx="8496944" cy="5361459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자바스크립트 작성과 실행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ko-KR" altLang="en-US" dirty="0"/>
              <a:t>파일</a:t>
            </a:r>
            <a:r>
              <a:rPr lang="en-US" altLang="ko-KR" dirty="0"/>
              <a:t>]-[</a:t>
            </a:r>
            <a:r>
              <a:rPr lang="ko-KR" altLang="en-US" dirty="0"/>
              <a:t>다른 이름으로 저장</a:t>
            </a:r>
            <a:r>
              <a:rPr lang="en-US" altLang="ko-KR" dirty="0"/>
              <a:t>]</a:t>
            </a:r>
            <a:r>
              <a:rPr lang="ko-KR" altLang="en-US" dirty="0"/>
              <a:t> 메뉴를 선택해 새 파일을 생성하고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OuterJavaScript.js</a:t>
            </a:r>
            <a:r>
              <a:rPr lang="ko-KR" altLang="en-US" dirty="0"/>
              <a:t>로 저장하면 에디터가 확장자를 자동으로 인식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EB1395-3FE1-710B-29B0-BFD12D5CB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484784"/>
            <a:ext cx="7981950" cy="4286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F2E2148-90A4-AAC2-6D3C-A46F817C6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780928"/>
            <a:ext cx="2647950" cy="352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372037-73DF-14CE-2CFD-58E18F6F7054}"/>
              </a:ext>
            </a:extLst>
          </p:cNvPr>
          <p:cNvSpPr txBox="1"/>
          <p:nvPr/>
        </p:nvSpPr>
        <p:spPr>
          <a:xfrm>
            <a:off x="755576" y="3140969"/>
            <a:ext cx="7656115" cy="4008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ko-KR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alert('</a:t>
            </a:r>
            <a:r>
              <a:rPr lang="en-US" altLang="ko-KR" b="0" i="0" u="none" strike="noStrike" baseline="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OuterScript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');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0048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 HTML </a:t>
            </a:r>
            <a:r>
              <a:rPr lang="ko-KR" altLang="en-US" dirty="0"/>
              <a:t>페이지 구조와 작성법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947861"/>
            <a:ext cx="8363272" cy="5361459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자바스크립트 작성과 실행</a:t>
            </a:r>
            <a:endParaRPr lang="en-US" altLang="ko-KR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script </a:t>
            </a:r>
            <a:r>
              <a:rPr lang="ko-KR" altLang="en-US" dirty="0"/>
              <a:t>태그를 사용해 수정한 후 </a:t>
            </a:r>
            <a:r>
              <a:rPr lang="en-US" altLang="ko-KR" dirty="0"/>
              <a:t>HTMLPageWithOuterScript.html</a:t>
            </a:r>
            <a:r>
              <a:rPr lang="ko-KR" altLang="en-US" dirty="0"/>
              <a:t>로 저장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정리 </a:t>
            </a:r>
            <a:r>
              <a:rPr lang="en-US" altLang="ko-KR" dirty="0"/>
              <a:t>: </a:t>
            </a:r>
            <a:r>
              <a:rPr lang="ko-KR" altLang="en-US" dirty="0"/>
              <a:t>외부 스타일시트는 </a:t>
            </a:r>
            <a:r>
              <a:rPr lang="en-US" altLang="ko-KR" dirty="0"/>
              <a:t>link </a:t>
            </a:r>
            <a:r>
              <a:rPr lang="ko-KR" altLang="en-US" dirty="0"/>
              <a:t>태그를 사용하고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        </a:t>
            </a:r>
            <a:r>
              <a:rPr lang="ko-KR" altLang="en-US" dirty="0"/>
              <a:t>외부 자바스크립트는 </a:t>
            </a:r>
            <a:r>
              <a:rPr lang="en-US" altLang="ko-KR" dirty="0"/>
              <a:t>script </a:t>
            </a:r>
            <a:r>
              <a:rPr lang="ko-KR" altLang="en-US" dirty="0"/>
              <a:t>태그를 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0C0A36-EB86-BD75-0A9B-AA2074A7E6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078"/>
          <a:stretch/>
        </p:blipFill>
        <p:spPr>
          <a:xfrm>
            <a:off x="755576" y="2355289"/>
            <a:ext cx="3762375" cy="313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E056E1-C2C8-3652-03D5-AD9307922515}"/>
              </a:ext>
            </a:extLst>
          </p:cNvPr>
          <p:cNvSpPr txBox="1"/>
          <p:nvPr/>
        </p:nvSpPr>
        <p:spPr>
          <a:xfrm>
            <a:off x="755576" y="2668672"/>
            <a:ext cx="7632848" cy="30591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&lt;!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DOCTYPE </a:t>
            </a:r>
            <a:r>
              <a:rPr lang="en-US" altLang="ko-KR" sz="1600" b="0" i="0" u="none" strike="noStrike" baseline="0" dirty="0">
                <a:solidFill>
                  <a:srgbClr val="E8371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HTML5 Basic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script </a:t>
            </a:r>
            <a:r>
              <a:rPr lang="en-US" altLang="ko-KR" sz="1600" b="0" i="0" u="none" strike="noStrike" baseline="0" dirty="0" err="1">
                <a:solidFill>
                  <a:srgbClr val="E8371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="OuterJavaScript.js"&gt;&lt;/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script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&lt;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h1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Hello World..!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h1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67B7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spcAft>
                <a:spcPts val="400"/>
              </a:spcAft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A99803-F342-F1DA-F5E3-1FC5650EF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484784"/>
            <a:ext cx="79819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03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7534" y="2492896"/>
            <a:ext cx="8388932" cy="194421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altLang="ko-KR" sz="4000" b="1" dirty="0">
                <a:latin typeface="+mj-lt"/>
              </a:rPr>
              <a:t>Section 03</a:t>
            </a:r>
          </a:p>
          <a:p>
            <a:pPr algn="ctr"/>
            <a:r>
              <a:rPr lang="ko-KR" altLang="en-US" sz="4000" b="1" dirty="0">
                <a:latin typeface="+mn-ea"/>
                <a:ea typeface="+mn-ea"/>
              </a:rPr>
              <a:t>오류와 검증</a:t>
            </a:r>
          </a:p>
        </p:txBody>
      </p:sp>
    </p:spTree>
    <p:extLst>
      <p:ext uri="{BB962C8B-B14F-4D97-AF65-F5344CB8AC3E}">
        <p14:creationId xmlns:p14="http://schemas.microsoft.com/office/powerpoint/2010/main" val="2616309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소프트웨어, 번호, 컴퓨터 아이콘이(가) 표시된 사진&#10;&#10;자동 생성된 설명">
            <a:extLst>
              <a:ext uri="{FF2B5EF4-FFF2-40B4-BE49-F238E27FC236}">
                <a16:creationId xmlns:a16="http://schemas.microsoft.com/office/drawing/2014/main" id="{37640830-D24F-23EB-EF62-259099DCFCF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10"/>
          <a:stretch/>
        </p:blipFill>
        <p:spPr>
          <a:xfrm>
            <a:off x="3470759" y="3140968"/>
            <a:ext cx="5538142" cy="341697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오류와 검증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버그</a:t>
            </a:r>
            <a:r>
              <a:rPr lang="en-US" altLang="ko-KR" b="1" dirty="0"/>
              <a:t>(bug)</a:t>
            </a:r>
            <a:r>
              <a:rPr lang="ko-KR" altLang="en-US" b="1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프로그램이 원하지 않는 방향으로 동작하는 것</a:t>
            </a:r>
            <a:endParaRPr lang="en-US" altLang="ko-KR" dirty="0"/>
          </a:p>
          <a:p>
            <a:r>
              <a:rPr lang="ko-KR" altLang="en-US" b="1" dirty="0"/>
              <a:t>디버그</a:t>
            </a:r>
            <a:r>
              <a:rPr lang="en-US" altLang="ko-KR" b="1" dirty="0"/>
              <a:t>(debug)</a:t>
            </a:r>
            <a:r>
              <a:rPr lang="en-US" altLang="ko-KR" dirty="0"/>
              <a:t> : </a:t>
            </a:r>
            <a:r>
              <a:rPr lang="ko-KR" altLang="en-US" dirty="0"/>
              <a:t>버그를 잡는</a:t>
            </a:r>
            <a:r>
              <a:rPr lang="en-US" altLang="ko-KR" dirty="0"/>
              <a:t>(</a:t>
            </a:r>
            <a:r>
              <a:rPr lang="ko-KR" altLang="en-US" dirty="0"/>
              <a:t>수정하는</a:t>
            </a:r>
            <a:r>
              <a:rPr lang="en-US" altLang="ko-KR" dirty="0"/>
              <a:t>) </a:t>
            </a:r>
            <a:r>
              <a:rPr lang="ko-KR" altLang="en-US" dirty="0"/>
              <a:t>행위</a:t>
            </a:r>
            <a:endParaRPr lang="en-US" altLang="ko-KR" dirty="0"/>
          </a:p>
          <a:p>
            <a:pPr lvl="1"/>
            <a:r>
              <a:rPr lang="ko-KR" altLang="en-US" dirty="0"/>
              <a:t>웹 브라우저의 검사 기능으로 쉽게 디버그</a:t>
            </a:r>
            <a:endParaRPr lang="en-US" altLang="ko-KR" dirty="0"/>
          </a:p>
          <a:p>
            <a:pPr lvl="2"/>
            <a:r>
              <a:rPr lang="ko-KR" altLang="en-US" dirty="0"/>
              <a:t>크롬을 실행한 후 </a:t>
            </a:r>
            <a:r>
              <a:rPr lang="en-US" altLang="ko-KR" dirty="0"/>
              <a:t>[F12] (</a:t>
            </a:r>
            <a:r>
              <a:rPr lang="ko-KR" altLang="en-US" dirty="0"/>
              <a:t>또는 </a:t>
            </a:r>
            <a:r>
              <a:rPr lang="en-US" altLang="ko-KR" dirty="0"/>
              <a:t>[Ctrl]+[Shift]+[I])</a:t>
            </a:r>
            <a:r>
              <a:rPr lang="ko-KR" altLang="en-US" dirty="0"/>
              <a:t>를 누르거나 마우스 오른쪽 버튼을 누르고 </a:t>
            </a:r>
            <a:r>
              <a:rPr lang="en-US" altLang="ko-KR" dirty="0"/>
              <a:t>[</a:t>
            </a:r>
            <a:r>
              <a:rPr lang="ko-KR" altLang="en-US" dirty="0"/>
              <a:t>검사</a:t>
            </a:r>
            <a:r>
              <a:rPr lang="en-US" altLang="ko-KR" dirty="0"/>
              <a:t>] </a:t>
            </a:r>
            <a:r>
              <a:rPr lang="ko-KR" altLang="en-US" dirty="0"/>
              <a:t>메뉴를 선택</a:t>
            </a:r>
            <a:endParaRPr lang="en-US" altLang="ko-KR" dirty="0"/>
          </a:p>
        </p:txBody>
      </p:sp>
      <p:pic>
        <p:nvPicPr>
          <p:cNvPr id="5" name="그림 4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id="{04BDE01C-E36A-3F7C-549E-A19D90918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99" y="2636912"/>
            <a:ext cx="4947752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61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83E3FD7-E6E9-6DA8-EB32-20567164CFFE}"/>
              </a:ext>
            </a:extLst>
          </p:cNvPr>
          <p:cNvSpPr/>
          <p:nvPr/>
        </p:nvSpPr>
        <p:spPr>
          <a:xfrm>
            <a:off x="323528" y="2780928"/>
            <a:ext cx="8496944" cy="3770094"/>
          </a:xfrm>
          <a:prstGeom prst="rect">
            <a:avLst/>
          </a:prstGeom>
          <a:solidFill>
            <a:srgbClr val="F1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 </a:t>
            </a:r>
            <a:r>
              <a:rPr lang="ko-KR" altLang="en-US" dirty="0"/>
              <a:t>오류와 검증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다양한 검사 기능 중 </a:t>
            </a:r>
            <a:r>
              <a:rPr lang="en-US" altLang="ko-KR" dirty="0"/>
              <a:t>[Elements] </a:t>
            </a:r>
            <a:r>
              <a:rPr lang="ko-KR" altLang="en-US" dirty="0"/>
              <a:t>탭과 </a:t>
            </a:r>
            <a:r>
              <a:rPr lang="en-US" altLang="ko-KR" dirty="0"/>
              <a:t>[Console] </a:t>
            </a:r>
            <a:r>
              <a:rPr lang="ko-KR" altLang="en-US" dirty="0"/>
              <a:t>탭 사용</a:t>
            </a:r>
            <a:endParaRPr lang="en-US" altLang="ko-KR" dirty="0"/>
          </a:p>
          <a:p>
            <a:pPr lvl="1"/>
            <a:r>
              <a:rPr lang="en-US" altLang="ko-KR" b="1" dirty="0"/>
              <a:t>[Elements(</a:t>
            </a:r>
            <a:r>
              <a:rPr lang="ko-KR" altLang="en-US" b="1" dirty="0"/>
              <a:t>요소</a:t>
            </a:r>
            <a:r>
              <a:rPr lang="en-US" altLang="ko-KR" b="1" dirty="0"/>
              <a:t>)]</a:t>
            </a:r>
            <a:r>
              <a:rPr lang="ko-KR" altLang="en-US" b="1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현재 </a:t>
            </a:r>
            <a:r>
              <a:rPr lang="en-US" altLang="ko-KR" dirty="0"/>
              <a:t>HTML </a:t>
            </a:r>
            <a:r>
              <a:rPr lang="ko-KR" altLang="en-US" dirty="0"/>
              <a:t>페이지의 계층 구조와 각 태그에 적용된 스타일을 파악</a:t>
            </a:r>
            <a:endParaRPr lang="en-US" altLang="ko-KR" dirty="0"/>
          </a:p>
          <a:p>
            <a:pPr lvl="1"/>
            <a:r>
              <a:rPr lang="en-US" altLang="ko-KR" b="1" dirty="0"/>
              <a:t>[Console(</a:t>
            </a:r>
            <a:r>
              <a:rPr lang="ko-KR" altLang="en-US" b="1" dirty="0"/>
              <a:t>콘솔</a:t>
            </a:r>
            <a:r>
              <a:rPr lang="en-US" altLang="ko-KR" b="1" dirty="0"/>
              <a:t>)] </a:t>
            </a:r>
            <a:r>
              <a:rPr lang="en-US" altLang="ko-KR" dirty="0"/>
              <a:t>:</a:t>
            </a:r>
            <a:r>
              <a:rPr lang="ko-KR" altLang="en-US" dirty="0"/>
              <a:t> 오류를 확인하거나 자바스크립트 코드를 추가로 입력</a:t>
            </a:r>
            <a:endParaRPr lang="en-US" altLang="ko-KR" dirty="0"/>
          </a:p>
          <a:p>
            <a:pPr lvl="5"/>
            <a:endParaRPr lang="en-US" altLang="ko-KR" dirty="0"/>
          </a:p>
          <a:p>
            <a:pPr lvl="1" indent="0">
              <a:buNone/>
            </a:pPr>
            <a:r>
              <a:rPr lang="en-US" altLang="ko-KR" b="1" dirty="0">
                <a:solidFill>
                  <a:srgbClr val="00CC66"/>
                </a:solidFill>
              </a:rPr>
              <a:t>NOTE </a:t>
            </a:r>
            <a:r>
              <a:rPr lang="ko-KR" altLang="en-US" dirty="0"/>
              <a:t>자바스크립트 코드의 문제점을 검사로 확인할 수 있음</a:t>
            </a:r>
            <a:endParaRPr lang="en-US" altLang="ko-KR" dirty="0"/>
          </a:p>
        </p:txBody>
      </p:sp>
      <p:pic>
        <p:nvPicPr>
          <p:cNvPr id="5" name="그림 4" descr="텍스트, 폰트, 번호, 라인이(가) 표시된 사진&#10;&#10;자동 생성된 설명">
            <a:extLst>
              <a:ext uri="{FF2B5EF4-FFF2-40B4-BE49-F238E27FC236}">
                <a16:creationId xmlns:a16="http://schemas.microsoft.com/office/drawing/2014/main" id="{F2ACBBAE-05C7-5F73-076F-034348E87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491256"/>
            <a:ext cx="8064896" cy="20597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545486D-01BC-0AF8-1A95-A52E6693E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225868"/>
            <a:ext cx="3667125" cy="342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5E5833-F27A-67AC-B9E7-373135ACFD74}"/>
              </a:ext>
            </a:extLst>
          </p:cNvPr>
          <p:cNvSpPr txBox="1"/>
          <p:nvPr/>
        </p:nvSpPr>
        <p:spPr>
          <a:xfrm>
            <a:off x="755576" y="3568768"/>
            <a:ext cx="7656115" cy="8569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</a:t>
            </a:r>
          </a:p>
          <a:p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alert(</a:t>
            </a:r>
            <a:r>
              <a:rPr lang="en-US" altLang="ko-KR" sz="1800" b="0" i="0" u="none" strike="noStrike" baseline="0" dirty="0">
                <a:solidFill>
                  <a:srgbClr val="933A3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'Hello JavaScript .. !'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···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034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025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rgbClr val="FF0000"/>
          </a:solidFill>
          <a:prstDash val="dash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10049</TotalTime>
  <Words>1099</Words>
  <Application>Microsoft Office PowerPoint</Application>
  <PresentationFormat>화면 슬라이드 쇼(4:3)</PresentationFormat>
  <Paragraphs>230</Paragraphs>
  <Slides>29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HY견고딕</vt:lpstr>
      <vt:lpstr>Arial</vt:lpstr>
      <vt:lpstr>D2Coding</vt:lpstr>
      <vt:lpstr>맑은 고딕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01. HTML5 기본 용어</vt:lpstr>
      <vt:lpstr>01. HTML5 기본 용어</vt:lpstr>
      <vt:lpstr>01. HTML5 기본 용어</vt:lpstr>
      <vt:lpstr>01. HTML5 기본 용어</vt:lpstr>
      <vt:lpstr>01. HTML5 기본 용어</vt:lpstr>
      <vt:lpstr>PowerPoint 프레젠테이션</vt:lpstr>
      <vt:lpstr>02 HTML 페이지 구조와 작성법</vt:lpstr>
      <vt:lpstr>02 HTML 페이지 구조와 작성법</vt:lpstr>
      <vt:lpstr>02 HTML 페이지 구조와 작성법</vt:lpstr>
      <vt:lpstr>02 HTML 페이지 구조와 작성법</vt:lpstr>
      <vt:lpstr>02 HTML 페이지 구조와 작성법</vt:lpstr>
      <vt:lpstr>02 HTML 페이지 구조와 작성법</vt:lpstr>
      <vt:lpstr>02 HTML 페이지 구조와 작성법</vt:lpstr>
      <vt:lpstr>02 HTML 페이지 구조와 작성법</vt:lpstr>
      <vt:lpstr>02 HTML 페이지 구조와 작성법</vt:lpstr>
      <vt:lpstr>02 HTML 페이지 구조와 작성법</vt:lpstr>
      <vt:lpstr>02 HTML 페이지 구조와 작성법</vt:lpstr>
      <vt:lpstr>02 HTML 페이지 구조와 작성법</vt:lpstr>
      <vt:lpstr>02 HTML 페이지 구조와 작성법</vt:lpstr>
      <vt:lpstr>02 HTML 페이지 구조와 작성법</vt:lpstr>
      <vt:lpstr>PowerPoint 프레젠테이션</vt:lpstr>
      <vt:lpstr>03 오류와 검증</vt:lpstr>
      <vt:lpstr>03 오류와 검증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daaep@naver.com</dc:creator>
  <cp:lastModifiedBy>SUNGMU KIM</cp:lastModifiedBy>
  <cp:revision>1357</cp:revision>
  <dcterms:created xsi:type="dcterms:W3CDTF">2012-07-11T10:23:22Z</dcterms:created>
  <dcterms:modified xsi:type="dcterms:W3CDTF">2023-09-04T03:23:16Z</dcterms:modified>
</cp:coreProperties>
</file>